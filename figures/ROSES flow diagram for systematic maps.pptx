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1879263" cy="1367948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284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089150" y="1143000"/>
            <a:ext cx="2679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89150" y="1143000"/>
            <a:ext cx="2679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Please cite as: Haddaway NR, Macura B, Whaley P, and Pullin AS. 2017. ROSES flow diagram for systematic maps. Version 1.0. DOI: 10.6084/m9.figshare.6085940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i="1">
              <a:solidFill>
                <a:srgbClr val="000000"/>
              </a:solidFill>
            </a:endParaRPr>
          </a:p>
        </p:txBody>
      </p:sp>
      <p:sp>
        <p:nvSpPr>
          <p:cNvPr id="87" name="Google Shape;8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890945" y="2238751"/>
            <a:ext cx="10097400" cy="4762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95"/>
              <a:buFont typeface="Calibri"/>
              <a:buNone/>
              <a:defRPr sz="779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484908" y="7184899"/>
            <a:ext cx="8909400" cy="3302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None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None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None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16699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935006" y="12678861"/>
            <a:ext cx="40092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389730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16700" y="728309"/>
            <a:ext cx="10245900" cy="264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16"/>
              <a:buFont typeface="Calibri"/>
              <a:buNone/>
              <a:defRPr sz="57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16700" y="3641531"/>
            <a:ext cx="10245900" cy="86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9549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637"/>
              <a:buFont typeface="Arial"/>
              <a:buChar char="•"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2659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Char char="•"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9357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16699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3935006" y="12678861"/>
            <a:ext cx="40092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389730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10513" y="3410377"/>
            <a:ext cx="10245900" cy="5690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95"/>
              <a:buFont typeface="Calibri"/>
              <a:buNone/>
              <a:defRPr sz="779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10513" y="9154494"/>
            <a:ext cx="10245900" cy="299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None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rgbClr val="888888"/>
              </a:buClr>
              <a:buSzPts val="2598"/>
              <a:buFont typeface="Arial"/>
              <a:buNone/>
              <a:defRPr sz="259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rgbClr val="888888"/>
              </a:buClr>
              <a:buSzPts val="2338"/>
              <a:buFont typeface="Arial"/>
              <a:buNone/>
              <a:defRPr sz="23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rgbClr val="888888"/>
              </a:buClr>
              <a:buSzPts val="2079"/>
              <a:buFont typeface="Arial"/>
              <a:buNone/>
              <a:defRPr sz="207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rgbClr val="888888"/>
              </a:buClr>
              <a:buSzPts val="2079"/>
              <a:buFont typeface="Arial"/>
              <a:buNone/>
              <a:defRPr sz="207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rgbClr val="888888"/>
              </a:buClr>
              <a:buSzPts val="2079"/>
              <a:buFont typeface="Arial"/>
              <a:buNone/>
              <a:defRPr sz="207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rgbClr val="888888"/>
              </a:buClr>
              <a:buSzPts val="2079"/>
              <a:buFont typeface="Arial"/>
              <a:buNone/>
              <a:defRPr sz="207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rgbClr val="888888"/>
              </a:buClr>
              <a:buSzPts val="2079"/>
              <a:buFont typeface="Arial"/>
              <a:buNone/>
              <a:defRPr sz="207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rgbClr val="888888"/>
              </a:buClr>
              <a:buSzPts val="2079"/>
              <a:buFont typeface="Arial"/>
              <a:buNone/>
              <a:defRPr sz="207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16699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3935006" y="12678861"/>
            <a:ext cx="40092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389730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16700" y="728309"/>
            <a:ext cx="10245900" cy="264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16"/>
              <a:buFont typeface="Calibri"/>
              <a:buNone/>
              <a:defRPr sz="57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16699" y="3641531"/>
            <a:ext cx="5048700" cy="86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9549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637"/>
              <a:buFont typeface="Arial"/>
              <a:buChar char="•"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2659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Char char="•"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9357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013877" y="3641531"/>
            <a:ext cx="5048700" cy="86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9549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637"/>
              <a:buFont typeface="Arial"/>
              <a:buChar char="•"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2659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Char char="•"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9357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16699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3935006" y="12678861"/>
            <a:ext cx="40092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389730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18247" y="728309"/>
            <a:ext cx="10245900" cy="264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16"/>
              <a:buFont typeface="Calibri"/>
              <a:buNone/>
              <a:defRPr sz="57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18248" y="3353375"/>
            <a:ext cx="5025600" cy="1643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None/>
              <a:defRPr sz="3118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None/>
              <a:defRPr sz="2598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None/>
              <a:defRPr sz="2338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18248" y="4996813"/>
            <a:ext cx="5025600" cy="7349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9549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637"/>
              <a:buFont typeface="Arial"/>
              <a:buChar char="•"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2659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Char char="•"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9357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013878" y="3353375"/>
            <a:ext cx="5050200" cy="1643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None/>
              <a:defRPr sz="3118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None/>
              <a:defRPr sz="2598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None/>
              <a:defRPr sz="2338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013878" y="4996813"/>
            <a:ext cx="5050200" cy="7349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9549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637"/>
              <a:buFont typeface="Arial"/>
              <a:buChar char="•"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2659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Char char="•"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9357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16699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3935006" y="12678861"/>
            <a:ext cx="40092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389730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16700" y="728309"/>
            <a:ext cx="10245900" cy="264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16"/>
              <a:buFont typeface="Calibri"/>
              <a:buNone/>
              <a:defRPr sz="57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16699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3935006" y="12678861"/>
            <a:ext cx="40092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389730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16699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935006" y="12678861"/>
            <a:ext cx="40092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389730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18246" y="911965"/>
            <a:ext cx="3831300" cy="3191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57"/>
              <a:buFont typeface="Calibri"/>
              <a:buNone/>
              <a:defRPr sz="415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050234" y="1969596"/>
            <a:ext cx="6013800" cy="97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92569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4157"/>
              <a:buFont typeface="Arial"/>
              <a:buChar char="•"/>
              <a:defRPr sz="415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59549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637"/>
              <a:buFont typeface="Arial"/>
              <a:buChar char="•"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2659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Char char="•"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9357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9357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9357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9357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9357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9357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18246" y="4103846"/>
            <a:ext cx="3831300" cy="7602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819"/>
              <a:buFont typeface="Arial"/>
              <a:buNone/>
              <a:defRPr sz="181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559"/>
              <a:buFont typeface="Arial"/>
              <a:buNone/>
              <a:defRPr sz="15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16699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935006" y="12678861"/>
            <a:ext cx="40092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389730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18246" y="911965"/>
            <a:ext cx="3831300" cy="3191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57"/>
              <a:buFont typeface="Calibri"/>
              <a:buNone/>
              <a:defRPr sz="415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050234" y="1969596"/>
            <a:ext cx="6013800" cy="97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4157"/>
              <a:buFont typeface="Arial"/>
              <a:buNone/>
              <a:defRPr sz="415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637"/>
              <a:buFont typeface="Arial"/>
              <a:buNone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None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None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None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None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None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None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None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18246" y="4103846"/>
            <a:ext cx="3831300" cy="7602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819"/>
              <a:buFont typeface="Arial"/>
              <a:buNone/>
              <a:defRPr sz="181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559"/>
              <a:buFont typeface="Arial"/>
              <a:buNone/>
              <a:defRPr sz="15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16699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935006" y="12678861"/>
            <a:ext cx="40092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389730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16700" y="728309"/>
            <a:ext cx="10245900" cy="264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16"/>
              <a:buFont typeface="Calibri"/>
              <a:buNone/>
              <a:defRPr sz="57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1599895" y="2858300"/>
            <a:ext cx="8679438" cy="102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9549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637"/>
              <a:buFont typeface="Arial"/>
              <a:buChar char="•"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2659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Char char="•"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9357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16699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935006" y="12678861"/>
            <a:ext cx="40092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389730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3985469" y="5244003"/>
            <a:ext cx="11592793" cy="25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16"/>
              <a:buFont typeface="Calibri"/>
              <a:buNone/>
              <a:defRPr sz="57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-1211790" y="2756703"/>
            <a:ext cx="11592793" cy="75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9549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637"/>
              <a:buFont typeface="Arial"/>
              <a:buChar char="•"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2659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Char char="•"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9357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16699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935006" y="12678861"/>
            <a:ext cx="40092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389730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16700" y="728309"/>
            <a:ext cx="10245900" cy="264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16"/>
              <a:buFont typeface="Calibri"/>
              <a:buNone/>
              <a:defRPr sz="57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16700" y="3641531"/>
            <a:ext cx="10245900" cy="86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9549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637"/>
              <a:buFont typeface="Arial"/>
              <a:buChar char="•"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2659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Char char="•"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9357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16699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935006" y="12678861"/>
            <a:ext cx="40092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389730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3"/>
          <p:cNvCxnSpPr/>
          <p:nvPr/>
        </p:nvCxnSpPr>
        <p:spPr>
          <a:xfrm>
            <a:off x="184879" y="11276489"/>
            <a:ext cx="11484900" cy="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" name="Google Shape;91;p13"/>
          <p:cNvSpPr/>
          <p:nvPr/>
        </p:nvSpPr>
        <p:spPr>
          <a:xfrm>
            <a:off x="184879" y="790328"/>
            <a:ext cx="573900" cy="20229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 txBox="1"/>
          <p:nvPr/>
        </p:nvSpPr>
        <p:spPr>
          <a:xfrm rot="-5400000">
            <a:off x="-511607" y="1542767"/>
            <a:ext cx="19668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Searching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1314425" y="790328"/>
            <a:ext cx="5007300" cy="12192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Records identified through database searching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 37308)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6662280" y="790328"/>
            <a:ext cx="5007300" cy="12192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Records identified through other sources, listed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 630)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2537523" y="3456462"/>
            <a:ext cx="3784200" cy="9420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Records after duplicates removed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 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29585</a:t>
            </a: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184879" y="3456461"/>
            <a:ext cx="573900" cy="7110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3"/>
          <p:cNvSpPr txBox="1"/>
          <p:nvPr/>
        </p:nvSpPr>
        <p:spPr>
          <a:xfrm rot="-5400000">
            <a:off x="-3055307" y="6752572"/>
            <a:ext cx="70542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Screening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2537523" y="4541585"/>
            <a:ext cx="3784200" cy="9420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Records after title and abstract screening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 736)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2537523" y="5656459"/>
            <a:ext cx="3784200" cy="9420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Articles retrieved at full text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 726)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2537523" y="6763525"/>
            <a:ext cx="3784200" cy="9420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Articles after full text screening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 167)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6662280" y="3456462"/>
            <a:ext cx="3784200" cy="9420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Duplicates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8353</a:t>
            </a: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/>
          <p:nvPr/>
        </p:nvSpPr>
        <p:spPr>
          <a:xfrm>
            <a:off x="6662280" y="4541585"/>
            <a:ext cx="3784200" cy="9420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Excluded abstracts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 28849)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/>
          <p:nvPr/>
        </p:nvSpPr>
        <p:spPr>
          <a:xfrm>
            <a:off x="6662280" y="5656459"/>
            <a:ext cx="3784200" cy="9420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Unretrievable full texts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(Not accessible,  n =6 ;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found, n =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4</a:t>
            </a: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6662280" y="6792101"/>
            <a:ext cx="3784200" cy="26430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Excluded full texts, with reasons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 548)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Reasons: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-1127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in English (n = 4)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-1127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a primary study (n = 282)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-1127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Wrong study design (n = 70)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-1127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about conservation (n = 79)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-1127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about policy or practice (n = 8)</a:t>
            </a:r>
          </a:p>
          <a:p>
            <a:pPr marL="450850" lvl="0" indent="-112712"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about evidence use</a:t>
            </a: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 58)</a:t>
            </a:r>
          </a:p>
          <a:p>
            <a:pPr marL="450850" lvl="0" indent="-112712"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about factors (n = 47)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184875" y="12159495"/>
            <a:ext cx="573900" cy="1161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 rot="-5400000">
            <a:off x="-109000" y="12509195"/>
            <a:ext cx="11616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Synthesis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13"/>
          <p:cNvCxnSpPr>
            <a:stCxn id="93" idx="2"/>
            <a:endCxn id="95" idx="0"/>
          </p:cNvCxnSpPr>
          <p:nvPr/>
        </p:nvCxnSpPr>
        <p:spPr>
          <a:xfrm rot="-5400000" flipH="1">
            <a:off x="3400325" y="2427278"/>
            <a:ext cx="1446900" cy="6114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0" name="Google Shape;110;p13"/>
          <p:cNvCxnSpPr>
            <a:stCxn id="94" idx="2"/>
            <a:endCxn id="95" idx="0"/>
          </p:cNvCxnSpPr>
          <p:nvPr/>
        </p:nvCxnSpPr>
        <p:spPr>
          <a:xfrm rot="5400000">
            <a:off x="6074280" y="364778"/>
            <a:ext cx="1446900" cy="4736400"/>
          </a:xfrm>
          <a:prstGeom prst="bentConnector3">
            <a:avLst>
              <a:gd name="adj1" fmla="val 50001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1" name="Google Shape;111;p13"/>
          <p:cNvCxnSpPr>
            <a:stCxn id="95" idx="3"/>
            <a:endCxn id="102" idx="1"/>
          </p:cNvCxnSpPr>
          <p:nvPr/>
        </p:nvCxnSpPr>
        <p:spPr>
          <a:xfrm>
            <a:off x="6321723" y="3927462"/>
            <a:ext cx="3405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3" name="Google Shape;113;p13"/>
          <p:cNvCxnSpPr>
            <a:stCxn id="99" idx="3"/>
            <a:endCxn id="104" idx="1"/>
          </p:cNvCxnSpPr>
          <p:nvPr/>
        </p:nvCxnSpPr>
        <p:spPr>
          <a:xfrm>
            <a:off x="6321723" y="5012585"/>
            <a:ext cx="3405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4" name="Google Shape;114;p13"/>
          <p:cNvCxnSpPr>
            <a:stCxn id="100" idx="3"/>
            <a:endCxn id="105" idx="1"/>
          </p:cNvCxnSpPr>
          <p:nvPr/>
        </p:nvCxnSpPr>
        <p:spPr>
          <a:xfrm>
            <a:off x="6321723" y="6127459"/>
            <a:ext cx="3405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5" name="Google Shape;115;p13"/>
          <p:cNvCxnSpPr>
            <a:stCxn id="101" idx="3"/>
          </p:cNvCxnSpPr>
          <p:nvPr/>
        </p:nvCxnSpPr>
        <p:spPr>
          <a:xfrm>
            <a:off x="6321723" y="7234525"/>
            <a:ext cx="3405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7" name="Google Shape;117;p13"/>
          <p:cNvCxnSpPr>
            <a:cxnSpLocks/>
            <a:endCxn id="99" idx="0"/>
          </p:cNvCxnSpPr>
          <p:nvPr/>
        </p:nvCxnSpPr>
        <p:spPr>
          <a:xfrm>
            <a:off x="4429623" y="4375221"/>
            <a:ext cx="0" cy="166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8" name="Google Shape;118;p13"/>
          <p:cNvCxnSpPr/>
          <p:nvPr/>
        </p:nvCxnSpPr>
        <p:spPr>
          <a:xfrm>
            <a:off x="4418422" y="5483695"/>
            <a:ext cx="0" cy="166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9" name="Google Shape;119;p13"/>
          <p:cNvCxnSpPr/>
          <p:nvPr/>
        </p:nvCxnSpPr>
        <p:spPr>
          <a:xfrm>
            <a:off x="4418488" y="6593792"/>
            <a:ext cx="0" cy="166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0" name="Google Shape;120;p13"/>
          <p:cNvCxnSpPr>
            <a:cxnSpLocks/>
            <a:stCxn id="101" idx="2"/>
            <a:endCxn id="121" idx="0"/>
          </p:cNvCxnSpPr>
          <p:nvPr/>
        </p:nvCxnSpPr>
        <p:spPr>
          <a:xfrm>
            <a:off x="4429623" y="7705525"/>
            <a:ext cx="0" cy="31371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3" name="Google Shape;123;p13"/>
          <p:cNvSpPr/>
          <p:nvPr/>
        </p:nvSpPr>
        <p:spPr>
          <a:xfrm>
            <a:off x="2526273" y="12287819"/>
            <a:ext cx="3784200" cy="9420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Studies included in the systematic map database and narrative synthesis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 167)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2537523" y="10842715"/>
            <a:ext cx="3784200" cy="94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Articles / Studies included after full text screening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 167/ n = 167)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13"/>
          <p:cNvCxnSpPr>
            <a:stCxn id="121" idx="2"/>
            <a:endCxn id="123" idx="0"/>
          </p:cNvCxnSpPr>
          <p:nvPr/>
        </p:nvCxnSpPr>
        <p:spPr>
          <a:xfrm flipH="1">
            <a:off x="4418523" y="11784715"/>
            <a:ext cx="11100" cy="503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8" name="Google Shape;128;p13"/>
          <p:cNvSpPr txBox="1"/>
          <p:nvPr/>
        </p:nvSpPr>
        <p:spPr>
          <a:xfrm>
            <a:off x="212897" y="10841133"/>
            <a:ext cx="12963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Articles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Studies</a:t>
            </a:r>
            <a:endParaRPr sz="2000" b="0" i="0" u="none" strike="noStrike" cap="none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Philip Anthony Martin</cp:lastModifiedBy>
  <cp:revision>1</cp:revision>
  <dcterms:modified xsi:type="dcterms:W3CDTF">2026-01-30T14:24:03Z</dcterms:modified>
</cp:coreProperties>
</file>